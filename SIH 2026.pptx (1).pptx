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 Bold Italics" charset="1" panose="020F07020304040A0204"/>
      <p:regular r:id="rId25"/>
    </p:embeddedFont>
    <p:embeddedFont>
      <p:font typeface="Shrikhand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4537" y="1612897"/>
            <a:ext cx="15576023" cy="862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SIH26006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Development of an Intelligent Freight Forecasting Model for Optimized Vessel Chartering and Bulk Cargo Procurement From Overseas to East Cost of India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Transportation and Logistics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Hackverse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SMARTFREIGHT AI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5451" y="174450"/>
            <a:ext cx="2478662" cy="1249099"/>
            <a:chOff x="0" y="0"/>
            <a:chExt cx="3304883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3304921" cy="1665478"/>
            </a:xfrm>
            <a:custGeom>
              <a:avLst/>
              <a:gdLst/>
              <a:ahLst/>
              <a:cxnLst/>
              <a:rect r="r" b="b" t="t" l="l"/>
              <a:pathLst>
                <a:path h="1665478" w="3304921">
                  <a:moveTo>
                    <a:pt x="0" y="832739"/>
                  </a:moveTo>
                  <a:cubicBezTo>
                    <a:pt x="0" y="372872"/>
                    <a:pt x="739775" y="0"/>
                    <a:pt x="1652397" y="0"/>
                  </a:cubicBezTo>
                  <a:cubicBezTo>
                    <a:pt x="2565019" y="0"/>
                    <a:pt x="3304921" y="372872"/>
                    <a:pt x="3304921" y="832739"/>
                  </a:cubicBezTo>
                  <a:cubicBezTo>
                    <a:pt x="3304921" y="1292606"/>
                    <a:pt x="2565146" y="1665478"/>
                    <a:pt x="1652524" y="1665478"/>
                  </a:cubicBezTo>
                  <a:cubicBezTo>
                    <a:pt x="739902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304883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Hackverse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44149" y="1958890"/>
            <a:ext cx="4919175" cy="7299410"/>
            <a:chOff x="0" y="0"/>
            <a:chExt cx="1295585" cy="19224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5585" cy="1922478"/>
            </a:xfrm>
            <a:custGeom>
              <a:avLst/>
              <a:gdLst/>
              <a:ahLst/>
              <a:cxnLst/>
              <a:rect r="r" b="b" t="t" l="l"/>
              <a:pathLst>
                <a:path h="1922478" w="1295585">
                  <a:moveTo>
                    <a:pt x="92856" y="0"/>
                  </a:moveTo>
                  <a:lnTo>
                    <a:pt x="1202729" y="0"/>
                  </a:lnTo>
                  <a:cubicBezTo>
                    <a:pt x="1254012" y="0"/>
                    <a:pt x="1295585" y="41573"/>
                    <a:pt x="1295585" y="92856"/>
                  </a:cubicBezTo>
                  <a:lnTo>
                    <a:pt x="1295585" y="1829623"/>
                  </a:lnTo>
                  <a:cubicBezTo>
                    <a:pt x="1295585" y="1880905"/>
                    <a:pt x="1254012" y="1922478"/>
                    <a:pt x="1202729" y="1922478"/>
                  </a:cubicBezTo>
                  <a:lnTo>
                    <a:pt x="92856" y="1922478"/>
                  </a:lnTo>
                  <a:cubicBezTo>
                    <a:pt x="41573" y="1922478"/>
                    <a:pt x="0" y="1880905"/>
                    <a:pt x="0" y="1829623"/>
                  </a:cubicBezTo>
                  <a:lnTo>
                    <a:pt x="0" y="92856"/>
                  </a:lnTo>
                  <a:cubicBezTo>
                    <a:pt x="0" y="41573"/>
                    <a:pt x="41573" y="0"/>
                    <a:pt x="92856" y="0"/>
                  </a:cubicBezTo>
                  <a:close/>
                </a:path>
              </a:pathLst>
            </a:custGeom>
            <a:solidFill>
              <a:srgbClr val="C4D0D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95585" cy="1941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94821" y="1958890"/>
            <a:ext cx="4919175" cy="7299410"/>
            <a:chOff x="0" y="0"/>
            <a:chExt cx="1295585" cy="19224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5585" cy="1922478"/>
            </a:xfrm>
            <a:custGeom>
              <a:avLst/>
              <a:gdLst/>
              <a:ahLst/>
              <a:cxnLst/>
              <a:rect r="r" b="b" t="t" l="l"/>
              <a:pathLst>
                <a:path h="1922478" w="1295585">
                  <a:moveTo>
                    <a:pt x="92856" y="0"/>
                  </a:moveTo>
                  <a:lnTo>
                    <a:pt x="1202729" y="0"/>
                  </a:lnTo>
                  <a:cubicBezTo>
                    <a:pt x="1254012" y="0"/>
                    <a:pt x="1295585" y="41573"/>
                    <a:pt x="1295585" y="92856"/>
                  </a:cubicBezTo>
                  <a:lnTo>
                    <a:pt x="1295585" y="1829623"/>
                  </a:lnTo>
                  <a:cubicBezTo>
                    <a:pt x="1295585" y="1880905"/>
                    <a:pt x="1254012" y="1922478"/>
                    <a:pt x="1202729" y="1922478"/>
                  </a:cubicBezTo>
                  <a:lnTo>
                    <a:pt x="92856" y="1922478"/>
                  </a:lnTo>
                  <a:cubicBezTo>
                    <a:pt x="41573" y="1922478"/>
                    <a:pt x="0" y="1880905"/>
                    <a:pt x="0" y="1829623"/>
                  </a:cubicBezTo>
                  <a:lnTo>
                    <a:pt x="0" y="92856"/>
                  </a:lnTo>
                  <a:cubicBezTo>
                    <a:pt x="0" y="41573"/>
                    <a:pt x="41573" y="0"/>
                    <a:pt x="92856" y="0"/>
                  </a:cubicBezTo>
                  <a:close/>
                </a:path>
              </a:pathLst>
            </a:custGeom>
            <a:solidFill>
              <a:srgbClr val="E4C1C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95585" cy="1941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45493" y="1958890"/>
            <a:ext cx="5165409" cy="7299410"/>
            <a:chOff x="0" y="0"/>
            <a:chExt cx="1360437" cy="19224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0437" cy="1922478"/>
            </a:xfrm>
            <a:custGeom>
              <a:avLst/>
              <a:gdLst/>
              <a:ahLst/>
              <a:cxnLst/>
              <a:rect r="r" b="b" t="t" l="l"/>
              <a:pathLst>
                <a:path h="1922478" w="1360437">
                  <a:moveTo>
                    <a:pt x="88429" y="0"/>
                  </a:moveTo>
                  <a:lnTo>
                    <a:pt x="1272008" y="0"/>
                  </a:lnTo>
                  <a:cubicBezTo>
                    <a:pt x="1295461" y="0"/>
                    <a:pt x="1317953" y="9317"/>
                    <a:pt x="1334537" y="25900"/>
                  </a:cubicBezTo>
                  <a:cubicBezTo>
                    <a:pt x="1351120" y="42484"/>
                    <a:pt x="1360437" y="64976"/>
                    <a:pt x="1360437" y="88429"/>
                  </a:cubicBezTo>
                  <a:lnTo>
                    <a:pt x="1360437" y="1834049"/>
                  </a:lnTo>
                  <a:cubicBezTo>
                    <a:pt x="1360437" y="1857502"/>
                    <a:pt x="1351120" y="1879994"/>
                    <a:pt x="1334537" y="1896578"/>
                  </a:cubicBezTo>
                  <a:cubicBezTo>
                    <a:pt x="1317953" y="1913162"/>
                    <a:pt x="1295461" y="1922478"/>
                    <a:pt x="1272008" y="1922478"/>
                  </a:cubicBezTo>
                  <a:lnTo>
                    <a:pt x="88429" y="1922478"/>
                  </a:lnTo>
                  <a:cubicBezTo>
                    <a:pt x="64976" y="1922478"/>
                    <a:pt x="42484" y="1913162"/>
                    <a:pt x="25900" y="1896578"/>
                  </a:cubicBezTo>
                  <a:cubicBezTo>
                    <a:pt x="9317" y="1879994"/>
                    <a:pt x="0" y="1857502"/>
                    <a:pt x="0" y="1834049"/>
                  </a:cubicBezTo>
                  <a:lnTo>
                    <a:pt x="0" y="88429"/>
                  </a:lnTo>
                  <a:cubicBezTo>
                    <a:pt x="0" y="64976"/>
                    <a:pt x="9317" y="42484"/>
                    <a:pt x="25900" y="25900"/>
                  </a:cubicBezTo>
                  <a:cubicBezTo>
                    <a:pt x="42484" y="9317"/>
                    <a:pt x="64976" y="0"/>
                    <a:pt x="88429" y="0"/>
                  </a:cubicBezTo>
                  <a:close/>
                </a:path>
              </a:pathLst>
            </a:custGeom>
            <a:solidFill>
              <a:srgbClr val="F5E4D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360437" cy="1941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54735" y="2262590"/>
            <a:ext cx="449800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2"/>
              </a:lnSpc>
              <a:spcBef>
                <a:spcPct val="0"/>
              </a:spcBef>
            </a:pPr>
            <a:r>
              <a:rPr lang="en-US" b="true" sz="31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ADDRESSED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71246" y="2272115"/>
            <a:ext cx="38270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  <a:spcBef>
                <a:spcPct val="0"/>
              </a:spcBef>
            </a:pPr>
            <a:r>
              <a:rPr lang="en-US" b="true" sz="315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05408" y="2272115"/>
            <a:ext cx="449800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31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2824" y="2881715"/>
            <a:ext cx="4681825" cy="586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Reactive daily/sp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ot</a:t>
            </a:r>
          </a:p>
          <a:p>
            <a:pPr algn="l">
              <a:lnSpc>
                <a:spcPts val="3614"/>
              </a:lnSpc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      chartering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Freight-rate uncertainty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Wrong vessel selection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Port draft/size restrictions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Unpredictable congestion</a:t>
            </a:r>
          </a:p>
          <a:p>
            <a:pPr algn="l">
              <a:lnSpc>
                <a:spcPts val="3614"/>
              </a:lnSpc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     &amp; waiting time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High voyage and idle costs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Difficulty planning short/medium-term </a:t>
            </a:r>
          </a:p>
          <a:p>
            <a:pPr algn="l">
              <a:lnSpc>
                <a:spcPts val="3614"/>
              </a:lnSpc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      contracts.</a:t>
            </a:r>
          </a:p>
          <a:p>
            <a:pPr algn="l">
              <a:lnSpc>
                <a:spcPts val="2546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705408" y="2881715"/>
            <a:ext cx="4681825" cy="601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Freight-rate forecas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ting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Optimal charter timing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essel &amp; port compatibility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AIS-based ETA monitoring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Waiting-time prediction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Total voyage-cost calculation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harter Now vs Wait decision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Spot / Short / Medium-term contract recommendation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45493" y="2881715"/>
            <a:ext cx="5165409" cy="601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One integrated decis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ion-support system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Combines Forecast + 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essel</a:t>
            </a:r>
          </a:p>
          <a:p>
            <a:pPr algn="l">
              <a:lnSpc>
                <a:spcPts val="3614"/>
              </a:lnSpc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     + Port + AIS + Waiting + Cost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Uses the more restrictive port for vessel selection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Provides 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</a:t>
            </a: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harter vs Wait decision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Connects forecasting directly to contract strategy</a:t>
            </a:r>
          </a:p>
          <a:p>
            <a:pPr algn="l" marL="650365" indent="-325183" lvl="1">
              <a:lnSpc>
                <a:spcPts val="3614"/>
              </a:lnSpc>
              <a:buFont typeface="Arial"/>
              <a:buChar char="•"/>
            </a:pPr>
            <a:r>
              <a:rPr lang="en-US" sz="3012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From market monitoring intelligent chartering decision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-36187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0"/>
            <a:ext cx="2588390" cy="1249099"/>
            <a:chOff x="0" y="0"/>
            <a:chExt cx="3451187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3451225" cy="1665478"/>
            </a:xfrm>
            <a:custGeom>
              <a:avLst/>
              <a:gdLst/>
              <a:ahLst/>
              <a:cxnLst/>
              <a:rect r="r" b="b" t="t" l="l"/>
              <a:pathLst>
                <a:path h="1665478" w="3451225">
                  <a:moveTo>
                    <a:pt x="0" y="832739"/>
                  </a:moveTo>
                  <a:cubicBezTo>
                    <a:pt x="0" y="372872"/>
                    <a:pt x="772541" y="0"/>
                    <a:pt x="1725549" y="0"/>
                  </a:cubicBezTo>
                  <a:cubicBezTo>
                    <a:pt x="2678557" y="0"/>
                    <a:pt x="3451225" y="372872"/>
                    <a:pt x="3451225" y="832739"/>
                  </a:cubicBezTo>
                  <a:cubicBezTo>
                    <a:pt x="3451225" y="1292606"/>
                    <a:pt x="2678684" y="1665478"/>
                    <a:pt x="1725676" y="1665478"/>
                  </a:cubicBezTo>
                  <a:cubicBezTo>
                    <a:pt x="772668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451187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Hackverse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84228" y="1192304"/>
            <a:ext cx="14784661" cy="8339840"/>
          </a:xfrm>
          <a:custGeom>
            <a:avLst/>
            <a:gdLst/>
            <a:ahLst/>
            <a:cxnLst/>
            <a:rect r="r" b="b" t="t" l="l"/>
            <a:pathLst>
              <a:path h="8339840" w="14784661">
                <a:moveTo>
                  <a:pt x="0" y="0"/>
                </a:moveTo>
                <a:lnTo>
                  <a:pt x="14784661" y="0"/>
                </a:lnTo>
                <a:lnTo>
                  <a:pt x="14784661" y="8339840"/>
                </a:lnTo>
                <a:lnTo>
                  <a:pt x="0" y="8339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9" t="0" r="-2202" b="-314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4047" y="180384"/>
            <a:ext cx="2602106" cy="1249099"/>
            <a:chOff x="0" y="0"/>
            <a:chExt cx="3469475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3469513" cy="1665478"/>
            </a:xfrm>
            <a:custGeom>
              <a:avLst/>
              <a:gdLst/>
              <a:ahLst/>
              <a:cxnLst/>
              <a:rect r="r" b="b" t="t" l="l"/>
              <a:pathLst>
                <a:path h="1665478" w="3469513">
                  <a:moveTo>
                    <a:pt x="0" y="832739"/>
                  </a:moveTo>
                  <a:cubicBezTo>
                    <a:pt x="0" y="372872"/>
                    <a:pt x="776732" y="0"/>
                    <a:pt x="1734693" y="0"/>
                  </a:cubicBezTo>
                  <a:cubicBezTo>
                    <a:pt x="2692654" y="0"/>
                    <a:pt x="3469513" y="372872"/>
                    <a:pt x="3469513" y="832739"/>
                  </a:cubicBezTo>
                  <a:cubicBezTo>
                    <a:pt x="3469513" y="1292606"/>
                    <a:pt x="2692781" y="1665478"/>
                    <a:pt x="1734820" y="1665478"/>
                  </a:cubicBezTo>
                  <a:cubicBezTo>
                    <a:pt x="77685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469475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Hackverse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1793581"/>
            <a:ext cx="11355284" cy="2275095"/>
            <a:chOff x="0" y="0"/>
            <a:chExt cx="2990692" cy="5992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90692" cy="599202"/>
            </a:xfrm>
            <a:custGeom>
              <a:avLst/>
              <a:gdLst/>
              <a:ahLst/>
              <a:cxnLst/>
              <a:rect r="r" b="b" t="t" l="l"/>
              <a:pathLst>
                <a:path h="599202" w="2990692">
                  <a:moveTo>
                    <a:pt x="30681" y="0"/>
                  </a:moveTo>
                  <a:lnTo>
                    <a:pt x="2960012" y="0"/>
                  </a:lnTo>
                  <a:cubicBezTo>
                    <a:pt x="2968148" y="0"/>
                    <a:pt x="2975952" y="3232"/>
                    <a:pt x="2981706" y="8986"/>
                  </a:cubicBezTo>
                  <a:cubicBezTo>
                    <a:pt x="2987460" y="14740"/>
                    <a:pt x="2990692" y="22544"/>
                    <a:pt x="2990692" y="30681"/>
                  </a:cubicBezTo>
                  <a:lnTo>
                    <a:pt x="2990692" y="568521"/>
                  </a:lnTo>
                  <a:cubicBezTo>
                    <a:pt x="2990692" y="576658"/>
                    <a:pt x="2987460" y="584462"/>
                    <a:pt x="2981706" y="590216"/>
                  </a:cubicBezTo>
                  <a:cubicBezTo>
                    <a:pt x="2975952" y="595970"/>
                    <a:pt x="2968148" y="599202"/>
                    <a:pt x="2960012" y="599202"/>
                  </a:cubicBezTo>
                  <a:lnTo>
                    <a:pt x="30681" y="599202"/>
                  </a:lnTo>
                  <a:cubicBezTo>
                    <a:pt x="22544" y="599202"/>
                    <a:pt x="14740" y="595970"/>
                    <a:pt x="8986" y="590216"/>
                  </a:cubicBezTo>
                  <a:cubicBezTo>
                    <a:pt x="3232" y="584462"/>
                    <a:pt x="0" y="576658"/>
                    <a:pt x="0" y="568521"/>
                  </a:cubicBezTo>
                  <a:lnTo>
                    <a:pt x="0" y="30681"/>
                  </a:lnTo>
                  <a:cubicBezTo>
                    <a:pt x="0" y="22544"/>
                    <a:pt x="3232" y="14740"/>
                    <a:pt x="8986" y="8986"/>
                  </a:cubicBezTo>
                  <a:cubicBezTo>
                    <a:pt x="14740" y="3232"/>
                    <a:pt x="22544" y="0"/>
                    <a:pt x="30681" y="0"/>
                  </a:cubicBezTo>
                  <a:close/>
                </a:path>
              </a:pathLst>
            </a:custGeom>
            <a:solidFill>
              <a:srgbClr val="0070C0">
                <a:alpha val="34902"/>
              </a:srgbClr>
            </a:solidFill>
            <a:ln w="38100" cap="rnd">
              <a:solidFill>
                <a:srgbClr val="000000">
                  <a:alpha val="34902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990692" cy="618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92042" y="4402051"/>
            <a:ext cx="11021908" cy="2425059"/>
            <a:chOff x="0" y="0"/>
            <a:chExt cx="2902889" cy="6386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02889" cy="638699"/>
            </a:xfrm>
            <a:custGeom>
              <a:avLst/>
              <a:gdLst/>
              <a:ahLst/>
              <a:cxnLst/>
              <a:rect r="r" b="b" t="t" l="l"/>
              <a:pathLst>
                <a:path h="638699" w="2902889">
                  <a:moveTo>
                    <a:pt x="31609" y="0"/>
                  </a:moveTo>
                  <a:lnTo>
                    <a:pt x="2871281" y="0"/>
                  </a:lnTo>
                  <a:cubicBezTo>
                    <a:pt x="2888738" y="0"/>
                    <a:pt x="2902889" y="14152"/>
                    <a:pt x="2902889" y="31609"/>
                  </a:cubicBezTo>
                  <a:lnTo>
                    <a:pt x="2902889" y="607090"/>
                  </a:lnTo>
                  <a:cubicBezTo>
                    <a:pt x="2902889" y="615473"/>
                    <a:pt x="2899559" y="623513"/>
                    <a:pt x="2893632" y="629441"/>
                  </a:cubicBezTo>
                  <a:cubicBezTo>
                    <a:pt x="2887704" y="635368"/>
                    <a:pt x="2879664" y="638699"/>
                    <a:pt x="2871281" y="638699"/>
                  </a:cubicBezTo>
                  <a:lnTo>
                    <a:pt x="31609" y="638699"/>
                  </a:lnTo>
                  <a:cubicBezTo>
                    <a:pt x="14152" y="638699"/>
                    <a:pt x="0" y="624547"/>
                    <a:pt x="0" y="607090"/>
                  </a:cubicBezTo>
                  <a:lnTo>
                    <a:pt x="0" y="31609"/>
                  </a:lnTo>
                  <a:cubicBezTo>
                    <a:pt x="0" y="14152"/>
                    <a:pt x="14152" y="0"/>
                    <a:pt x="31609" y="0"/>
                  </a:cubicBezTo>
                  <a:close/>
                </a:path>
              </a:pathLst>
            </a:custGeom>
            <a:solidFill>
              <a:srgbClr val="0070C0">
                <a:alpha val="34902"/>
              </a:srgbClr>
            </a:solidFill>
            <a:ln w="38100" cap="rnd">
              <a:solidFill>
                <a:srgbClr val="000000">
                  <a:alpha val="34902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902889" cy="657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7201570"/>
            <a:ext cx="16103186" cy="2241945"/>
            <a:chOff x="0" y="0"/>
            <a:chExt cx="4241168" cy="590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41168" cy="590471"/>
            </a:xfrm>
            <a:custGeom>
              <a:avLst/>
              <a:gdLst/>
              <a:ahLst/>
              <a:cxnLst/>
              <a:rect r="r" b="b" t="t" l="l"/>
              <a:pathLst>
                <a:path h="590471" w="4241168">
                  <a:moveTo>
                    <a:pt x="21635" y="0"/>
                  </a:moveTo>
                  <a:lnTo>
                    <a:pt x="4219534" y="0"/>
                  </a:lnTo>
                  <a:cubicBezTo>
                    <a:pt x="4225272" y="0"/>
                    <a:pt x="4230774" y="2279"/>
                    <a:pt x="4234831" y="6337"/>
                  </a:cubicBezTo>
                  <a:cubicBezTo>
                    <a:pt x="4238889" y="10394"/>
                    <a:pt x="4241168" y="15897"/>
                    <a:pt x="4241168" y="21635"/>
                  </a:cubicBezTo>
                  <a:lnTo>
                    <a:pt x="4241168" y="568836"/>
                  </a:lnTo>
                  <a:cubicBezTo>
                    <a:pt x="4241168" y="574574"/>
                    <a:pt x="4238889" y="580077"/>
                    <a:pt x="4234831" y="584134"/>
                  </a:cubicBezTo>
                  <a:cubicBezTo>
                    <a:pt x="4230774" y="588192"/>
                    <a:pt x="4225272" y="590471"/>
                    <a:pt x="4219534" y="590471"/>
                  </a:cubicBezTo>
                  <a:lnTo>
                    <a:pt x="21635" y="590471"/>
                  </a:lnTo>
                  <a:cubicBezTo>
                    <a:pt x="15897" y="590471"/>
                    <a:pt x="10394" y="588192"/>
                    <a:pt x="6337" y="584134"/>
                  </a:cubicBezTo>
                  <a:cubicBezTo>
                    <a:pt x="2279" y="580077"/>
                    <a:pt x="0" y="574574"/>
                    <a:pt x="0" y="568836"/>
                  </a:cubicBezTo>
                  <a:lnTo>
                    <a:pt x="0" y="21635"/>
                  </a:lnTo>
                  <a:cubicBezTo>
                    <a:pt x="0" y="15897"/>
                    <a:pt x="2279" y="10394"/>
                    <a:pt x="6337" y="6337"/>
                  </a:cubicBezTo>
                  <a:cubicBezTo>
                    <a:pt x="10394" y="2279"/>
                    <a:pt x="15897" y="0"/>
                    <a:pt x="21635" y="0"/>
                  </a:cubicBezTo>
                  <a:close/>
                </a:path>
              </a:pathLst>
            </a:custGeom>
            <a:solidFill>
              <a:srgbClr val="0070C0">
                <a:alpha val="34902"/>
              </a:srgbClr>
            </a:solidFill>
            <a:ln w="38100" cap="rnd">
              <a:solidFill>
                <a:srgbClr val="000000">
                  <a:alpha val="34902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41168" cy="609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8965993" y="7201570"/>
            <a:ext cx="0" cy="2308511"/>
          </a:xfrm>
          <a:prstGeom prst="line">
            <a:avLst/>
          </a:prstGeom>
          <a:ln cap="flat" w="38100">
            <a:solidFill>
              <a:srgbClr val="000000">
                <a:alpha val="3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3106400" y="1429483"/>
            <a:ext cx="2789150" cy="2648718"/>
          </a:xfrm>
          <a:custGeom>
            <a:avLst/>
            <a:gdLst/>
            <a:ahLst/>
            <a:cxnLst/>
            <a:rect r="r" b="b" t="t" l="l"/>
            <a:pathLst>
              <a:path h="2648718" w="2789150">
                <a:moveTo>
                  <a:pt x="0" y="0"/>
                </a:moveTo>
                <a:lnTo>
                  <a:pt x="2789150" y="0"/>
                </a:lnTo>
                <a:lnTo>
                  <a:pt x="2789150" y="2648718"/>
                </a:lnTo>
                <a:lnTo>
                  <a:pt x="0" y="264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7" t="-2486" r="0" b="-4075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8700" y="4774279"/>
            <a:ext cx="2024824" cy="1680604"/>
          </a:xfrm>
          <a:custGeom>
            <a:avLst/>
            <a:gdLst/>
            <a:ahLst/>
            <a:cxnLst/>
            <a:rect r="r" b="b" t="t" l="l"/>
            <a:pathLst>
              <a:path h="1680604" w="2024824">
                <a:moveTo>
                  <a:pt x="0" y="0"/>
                </a:moveTo>
                <a:lnTo>
                  <a:pt x="2024824" y="0"/>
                </a:lnTo>
                <a:lnTo>
                  <a:pt x="2024824" y="1680603"/>
                </a:lnTo>
                <a:lnTo>
                  <a:pt x="0" y="1680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501485" y="4899735"/>
            <a:ext cx="2888264" cy="1429691"/>
          </a:xfrm>
          <a:custGeom>
            <a:avLst/>
            <a:gdLst/>
            <a:ahLst/>
            <a:cxnLst/>
            <a:rect r="r" b="b" t="t" l="l"/>
            <a:pathLst>
              <a:path h="1429691" w="2888264">
                <a:moveTo>
                  <a:pt x="0" y="0"/>
                </a:moveTo>
                <a:lnTo>
                  <a:pt x="2888264" y="0"/>
                </a:lnTo>
                <a:lnTo>
                  <a:pt x="2888264" y="1429691"/>
                </a:lnTo>
                <a:lnTo>
                  <a:pt x="0" y="1429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1921479"/>
            <a:ext cx="11693974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b="true" sz="2531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Feasibility</a:t>
            </a:r>
          </a:p>
          <a:p>
            <a:pPr algn="l" marL="546500" indent="-273250" lvl="1">
              <a:lnSpc>
                <a:spcPts val="3037"/>
              </a:lnSpc>
              <a:buFont typeface="Arial"/>
              <a:buChar char="•"/>
            </a:pPr>
            <a:r>
              <a:rPr lang="en-US" b="true" sz="2531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Technically feasible using Python, ML, FastAPI and React.</a:t>
            </a:r>
          </a:p>
          <a:p>
            <a:pPr algn="l" marL="546500" indent="-273250" lvl="1">
              <a:lnSpc>
                <a:spcPts val="3037"/>
              </a:lnSpc>
              <a:buFont typeface="Arial"/>
              <a:buChar char="•"/>
            </a:pPr>
            <a:r>
              <a:rPr lang="en-US" b="true" sz="2531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Available data fr</a:t>
            </a:r>
            <a:r>
              <a:rPr lang="en-US" b="true" sz="2531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om freight markets, port databases and VesselFinder.</a:t>
            </a:r>
          </a:p>
          <a:p>
            <a:pPr algn="l" marL="546500" indent="-273250" lvl="1">
              <a:lnSpc>
                <a:spcPts val="3037"/>
              </a:lnSpc>
              <a:buFont typeface="Arial"/>
              <a:buChar char="•"/>
            </a:pPr>
            <a:r>
              <a:rPr lang="en-US" b="true" sz="2531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Scalable architecture supports future ports and vessel types.</a:t>
            </a:r>
          </a:p>
          <a:p>
            <a:pPr algn="l" marL="546500" indent="-273250" lvl="1">
              <a:lnSpc>
                <a:spcPts val="3037"/>
              </a:lnSpc>
              <a:buFont typeface="Arial"/>
              <a:buChar char="•"/>
            </a:pPr>
            <a:r>
              <a:rPr lang="en-US" b="true" sz="2531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Prototype-friendly with historical data and API-based vessel tracking.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27437" y="4402051"/>
            <a:ext cx="10467748" cy="247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Viability</a:t>
            </a:r>
          </a:p>
          <a:p>
            <a:pPr algn="l" marL="496583" indent="-248292" lvl="1">
              <a:lnSpc>
                <a:spcPts val="2760"/>
              </a:lnSpc>
              <a:buFont typeface="Arial"/>
              <a:buChar char="•"/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Reduces freight &amp; idle-time costs thr</a:t>
            </a: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ough better charter decisions.</a:t>
            </a:r>
          </a:p>
          <a:p>
            <a:pPr algn="l" marL="496583" indent="-248292" lvl="1">
              <a:lnSpc>
                <a:spcPts val="2760"/>
              </a:lnSpc>
              <a:buFont typeface="Arial"/>
              <a:buChar char="•"/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Improves operational efficiency with vessel and port matching.</a:t>
            </a:r>
          </a:p>
          <a:p>
            <a:pPr algn="l" marL="496583" indent="-248292" lvl="1">
              <a:lnSpc>
                <a:spcPts val="2760"/>
              </a:lnSpc>
              <a:buFont typeface="Arial"/>
              <a:buChar char="•"/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Supports better contract planning — Spot / Short-term / Medium-term.</a:t>
            </a:r>
          </a:p>
          <a:p>
            <a:pPr algn="l" marL="496583" indent="-248292" lvl="1">
              <a:lnSpc>
                <a:spcPts val="2760"/>
              </a:lnSpc>
              <a:buFont typeface="Arial"/>
              <a:buChar char="•"/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Practical business value for bulk cargo procurement and chartering.</a:t>
            </a:r>
          </a:p>
          <a:p>
            <a:pPr algn="l" marL="496583" indent="-248292" lvl="1">
              <a:lnSpc>
                <a:spcPts val="2760"/>
              </a:lnSpc>
              <a:buFont typeface="Arial"/>
              <a:buChar char="•"/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User-friendly application provides forecasts, recommendations and downloadable </a:t>
            </a:r>
          </a:p>
          <a:p>
            <a:pPr algn="l">
              <a:lnSpc>
                <a:spcPts val="2760"/>
              </a:lnSpc>
            </a:pPr>
            <a:r>
              <a:rPr lang="en-US" b="true" sz="23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     reports.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0416" y="7382339"/>
            <a:ext cx="7270403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b="true" sz="252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</a:t>
            </a:r>
            <a:r>
              <a:rPr lang="en-US" b="true" sz="252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otential Challenges</a:t>
            </a:r>
          </a:p>
          <a:p>
            <a:pPr algn="l" marL="546226" indent="-273113" lvl="1">
              <a:lnSpc>
                <a:spcPts val="3035"/>
              </a:lnSpc>
              <a:buFont typeface="Arial"/>
              <a:buChar char="•"/>
            </a:pPr>
            <a:r>
              <a:rPr lang="en-US" b="true" sz="252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Data Quality – Reliable freight &amp; AIS data</a:t>
            </a:r>
          </a:p>
          <a:p>
            <a:pPr algn="ctr" marL="546226" indent="-273113" lvl="1">
              <a:lnSpc>
                <a:spcPts val="303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Market Volatility – Unpredictable rate fluctuations</a:t>
            </a:r>
          </a:p>
          <a:p>
            <a:pPr algn="ctr" marL="546226" indent="-273113" lvl="1">
              <a:lnSpc>
                <a:spcPts val="303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2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ETA Uncertainty – Delays &amp; inaccurate vessel data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027023" y="7177552"/>
            <a:ext cx="7665894" cy="290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  <a:spcBef>
                <a:spcPct val="0"/>
              </a:spcBef>
            </a:pP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Strategies f</a:t>
            </a: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or Mitigation</a:t>
            </a:r>
          </a:p>
          <a:p>
            <a:pPr algn="l" marL="510297" indent="-255149" lvl="1">
              <a:lnSpc>
                <a:spcPts val="2836"/>
              </a:lnSpc>
              <a:buFont typeface="Arial"/>
              <a:buChar char="•"/>
            </a:pP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Data Validation – Clean &amp; cross-check</a:t>
            </a:r>
          </a:p>
          <a:p>
            <a:pPr algn="l">
              <a:lnSpc>
                <a:spcPts val="2836"/>
              </a:lnSpc>
            </a:pP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      </a:t>
            </a: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multiple d</a:t>
            </a: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ata sources</a:t>
            </a:r>
          </a:p>
          <a:p>
            <a:pPr algn="l" marL="510297" indent="-255149" lvl="1">
              <a:lnSpc>
                <a:spcPts val="2836"/>
              </a:lnSpc>
              <a:buFont typeface="Arial"/>
              <a:buChar char="•"/>
            </a:pP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Dynamic Forecasting – Regularly update models</a:t>
            </a:r>
          </a:p>
          <a:p>
            <a:pPr algn="l">
              <a:lnSpc>
                <a:spcPts val="2836"/>
              </a:lnSpc>
            </a:pP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      </a:t>
            </a: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with new data</a:t>
            </a:r>
          </a:p>
          <a:p>
            <a:pPr algn="ctr" marL="510297" indent="-255149" lvl="1">
              <a:lnSpc>
                <a:spcPts val="283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AIS B</a:t>
            </a:r>
            <a:r>
              <a:rPr lang="en-US" b="true" sz="2363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ackup – Combine historical + simulated/live AIS data</a:t>
            </a:r>
          </a:p>
          <a:p>
            <a:pPr algn="ctr">
              <a:lnSpc>
                <a:spcPts val="2836"/>
              </a:lnSpc>
              <a:spcBef>
                <a:spcPct val="0"/>
              </a:spcBef>
            </a:pPr>
          </a:p>
          <a:p>
            <a:pPr algn="ctr">
              <a:lnSpc>
                <a:spcPts val="28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Hackverse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83614" y="3112175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83614" y="4748294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83614" y="6384413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48800" y="3112175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713986" y="-160064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448800" y="4748294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48800" y="6384413"/>
            <a:ext cx="7315200" cy="1243584"/>
          </a:xfrm>
          <a:custGeom>
            <a:avLst/>
            <a:gdLst/>
            <a:ahLst/>
            <a:cxnLst/>
            <a:rect r="r" b="b" t="t" l="l"/>
            <a:pathLst>
              <a:path h="1243584" w="7315200">
                <a:moveTo>
                  <a:pt x="0" y="0"/>
                </a:moveTo>
                <a:lnTo>
                  <a:pt x="7315200" y="0"/>
                </a:lnTo>
                <a:lnTo>
                  <a:pt x="7315200" y="1243584"/>
                </a:lnTo>
                <a:lnTo>
                  <a:pt x="0" y="1243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945996" y="1868071"/>
            <a:ext cx="270063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4313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IMPACTS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7963" y="1868071"/>
            <a:ext cx="289947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6"/>
              </a:lnSpc>
              <a:spcBef>
                <a:spcPct val="0"/>
              </a:spcBef>
            </a:pPr>
            <a:r>
              <a:rPr lang="en-US" sz="4313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3343442"/>
            <a:ext cx="800087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</a:t>
            </a: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Economic: Lower freight and voyage costs.graph text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and Reduced vessel idle time and port waiting.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0774" y="4808111"/>
            <a:ext cx="800087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Supply Chai</a:t>
            </a: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n: Improved reliability of bulk cargo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movement and Better long-term chartering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and procurement planning.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0774" y="6615680"/>
            <a:ext cx="800087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Environmental : Better l</a:t>
            </a: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ong-term chartering and 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procurement planning.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343442"/>
            <a:ext cx="800087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</a:t>
            </a: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ccurate Freight Forecasting and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Optimal Vessel Selection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58421" y="4979561"/>
            <a:ext cx="800087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Bett</a:t>
            </a: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er Chartering Timing and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Reduced Waiting &amp; Idle 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72841" y="6615680"/>
            <a:ext cx="800087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Da</a:t>
            </a: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ta-Driven Decisions,Contract Optimization</a:t>
            </a:r>
          </a:p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and Centralized Application &amp; Reports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3237" y="2051646"/>
            <a:ext cx="17725876" cy="561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Predicting Ship Waiting Times Using Machine Learning for Enhanced Port Operations (2025)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Integrating Vessel Arrival Time Forecasting into Berth Allocation </a:t>
            </a: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Decisions (2026)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Time Series Forecasting Methods for the Baltic Dry Index (2021)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Baltic Dry Index Forecast Using Financial Market Data: ML + SHAP (2025)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Shipping News Sentiment Meets Multiscale Decomposition (2026)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Optimal Tanker Chartering Decisions with Spot Freight Rate Dynamics (2013)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Forecasting Spot Freight Rates Using VECM in the Dry Bulk Market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Can Maritime Big Data Be Applied to Shipping Industry Analysis? — Vessel Sizes of Dry Bulk Carriers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Developing a Vessel Size Selection Model by Commodity for Dry Bulk Carriers (2020) </a:t>
            </a:r>
          </a:p>
          <a:p>
            <a:pPr algn="just" marL="603849" indent="-301925" lvl="1">
              <a:lnSpc>
                <a:spcPts val="4003"/>
              </a:lnSpc>
              <a:buFont typeface="Arial"/>
              <a:buChar char="•"/>
            </a:pPr>
            <a:r>
              <a:rPr lang="en-US" sz="333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In-port Multi-ship Routing and Scheduling Problem with Draft Limits- Research Gate. </a:t>
            </a:r>
          </a:p>
          <a:p>
            <a:pPr algn="just">
              <a:lnSpc>
                <a:spcPts val="400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Hackverse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DAHUlcASz2w</dc:identifier>
  <dcterms:modified xsi:type="dcterms:W3CDTF">2011-08-01T06:04:30Z</dcterms:modified>
  <cp:revision>1</cp:revision>
  <dc:title>SIH 2026.pptx</dc:title>
</cp:coreProperties>
</file>